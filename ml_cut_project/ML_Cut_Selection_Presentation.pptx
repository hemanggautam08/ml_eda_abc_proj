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  <a:defRPr sz="3800" b="1">
                <a:solidFill>
                  <a:srgbClr val="000000"/>
                </a:solidFill>
                <a:latin typeface="Arial"/>
              </a:defRPr>
            </a:pPr>
            <a:r>
              <a:t>ML-Guided Cut Selection for</a:t>
            </a:r>
          </a:p>
          <a:p>
            <a:pPr algn="ctr">
              <a:lnSpc>
                <a:spcPct val="115000"/>
              </a:lnSpc>
              <a:spcAft>
                <a:spcPts val="2400"/>
              </a:spcAft>
              <a:defRPr sz="3800" b="1">
                <a:solidFill>
                  <a:srgbClr val="000000"/>
                </a:solidFill>
                <a:latin typeface="Arial"/>
              </a:defRPr>
            </a:pPr>
            <a:r>
              <a:t>ASIC Technology Mapping in ABC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400"/>
              </a:spcAft>
              <a:defRPr sz="2000" b="1">
                <a:solidFill>
                  <a:srgbClr val="5A5A5A"/>
                </a:solidFill>
                <a:latin typeface="Arial"/>
              </a:defRPr>
            </a:pPr>
            <a:r>
              <a:t>Submitted By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  <a:defRPr sz="2600" b="0">
                <a:solidFill>
                  <a:srgbClr val="000000"/>
                </a:solidFill>
                <a:latin typeface="Arial"/>
              </a:defRPr>
            </a:pPr>
            <a:r>
              <a:t>Hemang Gautam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  <a:defRPr sz="1600" b="0">
                <a:solidFill>
                  <a:srgbClr val="5A5A5A"/>
                </a:solidFill>
                <a:latin typeface="Arial"/>
              </a:defRPr>
            </a:pPr>
            <a:r>
              <a:t>EDA Course Project  •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698480" cy="317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15000"/>
              </a:lnSpc>
              <a:spcAft>
                <a:spcPts val="1400"/>
              </a:spcAft>
              <a:defRPr sz="1900" b="0">
                <a:solidFill>
                  <a:srgbClr val="000000"/>
                </a:solidFill>
                <a:latin typeface="Arial"/>
              </a:defRPr>
            </a:pPr>
            <a:r>
              <a:t>•  In ASIC technology mapping, the ABC tool generates structural "cuts" in an And-Inverter Graph (AIG) and selects the best ones to minimize area and delay.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900" b="0">
                <a:solidFill>
                  <a:srgbClr val="000000"/>
                </a:solidFill>
                <a:latin typeface="Arial"/>
              </a:defRPr>
            </a:pPr>
            <a:r>
              <a:t>•  ABC uses greedy heuristics like Area Flow and MFFC to evaluate cuts, but these are local — they can miss globally optimal solutions.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•  Increasing the cut limit (e.g., from C=8 to C=16) improves Quality of Results (QoR), but nearly doubles the CPU runtime.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•  Goal: Can a machine learning model intelligently select superior cuts from the default pool (C=8), achieving the QoR of a larger pool without the runtime penalty?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Motivation: Mapping Time vs. Cut Capacity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698480" cy="317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15000"/>
              </a:lnSpc>
              <a:spcAft>
                <a:spcPts val="1400"/>
              </a:spcAft>
              <a:defRPr sz="1900" b="0">
                <a:solidFill>
                  <a:srgbClr val="000000"/>
                </a:solidFill>
                <a:latin typeface="Arial"/>
              </a:defRPr>
            </a:pPr>
            <a:r>
              <a:t>•  We measured baseline CPU mapping time across 8 benchmarks while varying the max-cuts parameter (-C).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900" b="0">
                <a:solidFill>
                  <a:srgbClr val="000000"/>
                </a:solidFill>
                <a:latin typeface="Arial"/>
              </a:defRPr>
            </a:pPr>
            <a:r>
              <a:t>•  As the cut limit increases, the runtime grows significantly while QoR gains diminish.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900" b="0">
                <a:solidFill>
                  <a:srgbClr val="000000"/>
                </a:solidFill>
                <a:latin typeface="Arial"/>
              </a:defRPr>
            </a:pPr>
            <a:r>
              <a:t>•  This demonstrates the need for smarter cut selection rather than brute-force enumeration.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926080" y="3291840"/>
          <a:ext cx="64008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28600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Max Cuts (-C)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Total CPU Time (s)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Normalized Time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1.225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0.37×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1.855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0.55×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2.489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0.74×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8 (default)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3.352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1.00×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4.666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1.39×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6.066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1.81×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Our Approach: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698480" cy="317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15000"/>
              </a:lnSpc>
              <a:spcAft>
                <a:spcPts val="1400"/>
              </a:spcAft>
              <a:defRPr sz="1900" b="0">
                <a:solidFill>
                  <a:srgbClr val="000000"/>
                </a:solidFill>
                <a:latin typeface="Arial"/>
              </a:defRPr>
            </a:pPr>
            <a:r>
              <a:t>•  We trained a lightweight Multi-Layer Perceptron (MLP) to score cuts based on 9 hand-engineered structural features.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900" b="0">
                <a:solidFill>
                  <a:srgbClr val="000000"/>
                </a:solidFill>
                <a:latin typeface="Arial"/>
              </a:defRPr>
            </a:pPr>
            <a:r>
              <a:t>•  The trained model was converted into pure C code and integrated directly into ABC's mapping loop — no Python or file I/O at runtime.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900" b="0">
                <a:solidFill>
                  <a:srgbClr val="000000"/>
                </a:solidFill>
                <a:latin typeface="Arial"/>
              </a:defRPr>
            </a:pPr>
            <a:r>
              <a:t>•  Instead of filtering cuts, we use an "Area Blending" strategy: the ML score gently adjusts ABC's internal area estimate during its area-recovery rounds.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900" b="0">
                <a:solidFill>
                  <a:srgbClr val="000000"/>
                </a:solidFill>
                <a:latin typeface="Arial"/>
              </a:defRPr>
            </a:pPr>
            <a:r>
              <a:t>•  A conservative blending factor (α = 0.02) ensures the ML acts as an intelligent tie-breaker without disrupting ABC's convergence guarantees.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900" b="0">
                <a:solidFill>
                  <a:srgbClr val="000000"/>
                </a:solidFill>
                <a:latin typeface="Arial"/>
              </a:defRPr>
            </a:pPr>
            <a:r>
              <a:t>•  This approach allows the ML signal to organically propagate through the mapping graph.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Comparison with SLAP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698480" cy="317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15000"/>
              </a:lnSpc>
              <a:spcAft>
                <a:spcPts val="140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•  SLAP (Supervised Learning for ASIC Performance) is a recent ML-for-mapping framework. Our approach diverges in two key ways: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•  1. Model Architecture</a:t>
            </a:r>
          </a:p>
          <a:p>
            <a:pPr lvl="1">
              <a:lnSpc>
                <a:spcPct val="115000"/>
              </a:lnSpc>
              <a:spcAft>
                <a:spcPts val="14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◦  SLAP uses complex Graph Neural Networks (GNNs) and PairNet structures to capture global circuit topology.</a:t>
            </a:r>
          </a:p>
          <a:p>
            <a:pPr lvl="1">
              <a:lnSpc>
                <a:spcPct val="115000"/>
              </a:lnSpc>
              <a:spcAft>
                <a:spcPts val="14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◦  We use a simple 3-layer MLP and compensate with carefully hand-crafted structural features (e.g., mffc_size, slack_ratio) computed natively by ABC.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•  2. Integration Strategy</a:t>
            </a:r>
          </a:p>
          <a:p>
            <a:pPr lvl="1">
              <a:lnSpc>
                <a:spcPct val="115000"/>
              </a:lnSpc>
              <a:spcAft>
                <a:spcPts val="14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◦  SLAP pre-filters cuts — scoring thousands and discarding weak ones before the mapper runs.</a:t>
            </a:r>
          </a:p>
          <a:p>
            <a:pPr lvl="1">
              <a:lnSpc>
                <a:spcPct val="115000"/>
              </a:lnSpc>
              <a:spcAft>
                <a:spcPts val="14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◦  We blend the ML score inline during ABC's dynamic programming phase, adjusting the area estimate in real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ML Model: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698480" cy="317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15000"/>
              </a:lnSpc>
              <a:spcAft>
                <a:spcPts val="1400"/>
              </a:spcAft>
              <a:defRPr sz="1900" b="0">
                <a:solidFill>
                  <a:srgbClr val="000000"/>
                </a:solidFill>
                <a:latin typeface="Arial"/>
              </a:defRPr>
            </a:pPr>
            <a:r>
              <a:t>•  The model is a 3-layer feed-forward neural network, implemented in PyTorch and later exported to C.</a:t>
            </a:r>
          </a:p>
          <a:p>
            <a:pPr lvl="1">
              <a:lnSpc>
                <a:spcPct val="115000"/>
              </a:lnSpc>
              <a:spcAft>
                <a:spcPts val="140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◦  Input Layer:     9 neurons — one per structural feature</a:t>
            </a:r>
          </a:p>
          <a:p>
            <a:pPr lvl="1">
              <a:lnSpc>
                <a:spcPct val="115000"/>
              </a:lnSpc>
              <a:spcAft>
                <a:spcPts val="140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◦  Hidden Layer 1:  64 neurons with ReLU activation and 20% Dropout</a:t>
            </a:r>
          </a:p>
          <a:p>
            <a:pPr lvl="1">
              <a:lnSpc>
                <a:spcPct val="115000"/>
              </a:lnSpc>
              <a:spcAft>
                <a:spcPts val="140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◦  Hidden Layer 2:  32 neurons with ReLU activation and 20% Dropout</a:t>
            </a:r>
          </a:p>
          <a:p>
            <a:pPr lvl="1">
              <a:lnSpc>
                <a:spcPct val="115000"/>
              </a:lnSpc>
              <a:spcAft>
                <a:spcPts val="140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◦  Output Layer:    1 neuron producing a raw scalar quality score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900" b="0">
                <a:solidFill>
                  <a:srgbClr val="000000"/>
                </a:solidFill>
                <a:latin typeface="Arial"/>
              </a:defRPr>
            </a:pPr>
            <a:r>
              <a:t>•  The model was trained on Google Colab using a T4 GPU.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900" b="0">
                <a:solidFill>
                  <a:srgbClr val="000000"/>
                </a:solidFill>
                <a:latin typeface="Arial"/>
              </a:defRPr>
            </a:pPr>
            <a:r>
              <a:t>•  After training, the PyTorch weights were exported into a static C header file (model_weights.h) for native execution inside ABC.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Feature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698480" cy="317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15000"/>
              </a:lnSpc>
              <a:spcAft>
                <a:spcPts val="140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•  A major challenge was avoiding label leakage. If the model is trained on ABC's own heuristic values (Area Flow, Delay), it simply learns to copy ABC and provides zero improvement.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•  We selected 9 structural/topological features that ABC does not directly optimize:</a:t>
            </a:r>
          </a:p>
          <a:p>
            <a:pPr lvl="1">
              <a:lnSpc>
                <a:spcPct val="115000"/>
              </a:lnSpc>
              <a:spcAft>
                <a:spcPts val="14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◦  n_leaves, node_level, node_fanout — basic cut and node topology</a:t>
            </a:r>
          </a:p>
          <a:p>
            <a:pPr lvl="1">
              <a:lnSpc>
                <a:spcPct val="115000"/>
              </a:lnSpc>
              <a:spcAft>
                <a:spcPts val="14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◦  is_critical, slack_ratio — timing pressure indicators</a:t>
            </a:r>
          </a:p>
          <a:p>
            <a:pPr lvl="1">
              <a:lnSpc>
                <a:spcPct val="115000"/>
              </a:lnSpc>
              <a:spcAft>
                <a:spcPts val="14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◦  fanout_adj_area, area_per_leaf — structural interaction ratios</a:t>
            </a:r>
          </a:p>
          <a:p>
            <a:pPr lvl="1">
              <a:lnSpc>
                <a:spcPct val="115000"/>
              </a:lnSpc>
              <a:spcAft>
                <a:spcPts val="14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◦  mffc_size, mffc_per_leaf — Maximum Fanout-Free Cone efficiency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•  cut_delay, area_flow, and required_time were used exclusively for constructing the training label and were never passed as input features.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Label Formulation &amp; Training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698480" cy="317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15000"/>
              </a:lnSpc>
              <a:spcAft>
                <a:spcPts val="140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•  Initial Attempt: Labels based on MFFC size alone. Result — exactly 0% QoR improvement because the model simply cloned ABC's existing heuristic.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•  Final Label: We formulated labels based on the Area-Delay Product (ADP):</a:t>
            </a:r>
          </a:p>
          <a:p>
            <a:pPr lvl="1">
              <a:lnSpc>
                <a:spcPct val="115000"/>
              </a:lnSpc>
              <a:spcAft>
                <a:spcPts val="14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◦  Quality Score = −(Area Flow × Cut Delay)</a:t>
            </a:r>
          </a:p>
          <a:p>
            <a:pPr lvl="1">
              <a:lnSpc>
                <a:spcPct val="115000"/>
              </a:lnSpc>
              <a:spcAft>
                <a:spcPts val="140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◦  A higher quality score means a cut achieves lower area and delay simultaneously.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•  We used a Pairwise MarginRankingLoss (RankNet approach). The model is shown pairs of cuts for the same node and is penalized if it incorrectly ranks the worse-ADP cut higher.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•  Features are standardized using a fitted StandardScaler before training.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Integration: Area Blending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698480" cy="317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15000"/>
              </a:lnSpc>
              <a:spcAft>
                <a:spcPts val="1400"/>
              </a:spcAft>
              <a:defRPr sz="1900" b="0">
                <a:solidFill>
                  <a:srgbClr val="000000"/>
                </a:solidFill>
                <a:latin typeface="Arial"/>
              </a:defRPr>
            </a:pPr>
            <a:r>
              <a:t>•  Unlike SLAP's pre-filter approach, we inject the ML score directly into ABC's area-recovery mapping rounds (Mode 2).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900" b="0">
                <a:solidFill>
                  <a:srgbClr val="000000"/>
                </a:solidFill>
                <a:latin typeface="Arial"/>
              </a:defRPr>
            </a:pPr>
            <a:r>
              <a:t>•  The blending formula modifies ABC's internal area estimate:</a:t>
            </a:r>
          </a:p>
          <a:p>
            <a:pPr algn="ctr">
              <a:lnSpc>
                <a:spcPct val="115000"/>
              </a:lnSpc>
              <a:spcAft>
                <a:spcPts val="1400"/>
              </a:spcAft>
              <a:defRPr sz="2400" b="1">
                <a:solidFill>
                  <a:srgbClr val="000000"/>
                </a:solidFill>
                <a:latin typeface="Arial"/>
              </a:defRPr>
            </a:pPr>
            <a:r>
              <a:t>Area_adjusted = Area_ABC  ×  (1 − α · tanh(ML_Score))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900" b="0">
                <a:solidFill>
                  <a:srgbClr val="000000"/>
                </a:solidFill>
                <a:latin typeface="Arial"/>
              </a:defRPr>
            </a:pPr>
            <a:r>
              <a:t>•  We used α = 0.02 — a conservative value that ensures the ML acts as a gentle tie-breaker for structurally similar cuts.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900" b="0">
                <a:solidFill>
                  <a:srgbClr val="000000"/>
                </a:solidFill>
                <a:latin typeface="Arial"/>
              </a:defRPr>
            </a:pPr>
            <a:r>
              <a:t>•  The ML signal propagates organically through ABC's dynamic programming graph rather than overriding decisions.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900" b="0">
                <a:solidFill>
                  <a:srgbClr val="000000"/>
                </a:solidFill>
                <a:latin typeface="Arial"/>
              </a:defRPr>
            </a:pPr>
            <a:r>
              <a:t>•  The C inference engine (ifML.c) executes the MLP forward pass using standard floating-point arithmetic with zero external dependencies.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End-to-End Implementation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698480" cy="317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15000"/>
              </a:lnSpc>
              <a:spcAft>
                <a:spcPts val="140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•  Step 00–02: Set up dependencies, instrument ABC to dump structural features, and analyze the profiling data.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•  Step 03–04: Patch the ABC source code and generate training data across all benchmarks.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•  Step 05: Clean data, engineer 9 structural features, and train the MLP on Google Colab (T4 GPU) using RankNet pairwise loss.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•  Step 06: Export the trained PyTorch weights into a static C header file (model_weights.h).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•  Step 07: Inject the ML inference engine and weights into the ABC source tree and recompile.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•  Step 08: Run the final QoR comparison between baseline ABC and ML-guided ABC on all benchmarks.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Challenges Faced &amp; Debugging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698480" cy="317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15000"/>
              </a:lnSpc>
              <a:spcAft>
                <a:spcPts val="140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•  Challenge 1: The "Trivial Cut" Crashing Bug</a:t>
            </a:r>
          </a:p>
          <a:p>
            <a:pPr lvl="1">
              <a:lnSpc>
                <a:spcPct val="115000"/>
              </a:lnSpc>
              <a:spcAft>
                <a:spcPts val="14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◦  The ML model was initially allowed to force ABC to choose its highest-scoring cut after mapping.</a:t>
            </a:r>
          </a:p>
          <a:p>
            <a:pPr lvl="1">
              <a:lnSpc>
                <a:spcPct val="115000"/>
              </a:lnSpc>
              <a:spcAft>
                <a:spcPts val="14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◦  The model assigned extremely high scores to trivial cuts (single-input identity cuts with near-zero delay and area).</a:t>
            </a:r>
          </a:p>
          <a:p>
            <a:pPr lvl="1">
              <a:lnSpc>
                <a:spcPct val="115000"/>
              </a:lnSpc>
              <a:spcAft>
                <a:spcPts val="14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◦  This fractured the mapping graph, causing massive LUT bloat and segmentation faults.</a:t>
            </a:r>
          </a:p>
          <a:p>
            <a:pPr lvl="1">
              <a:lnSpc>
                <a:spcPct val="115000"/>
              </a:lnSpc>
              <a:spcAft>
                <a:spcPts val="14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◦  Resolution: Filter out trivial cuts (n_leaves &lt; 2) before ML scoring.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•  Challenge 2: The "Zero Improvement" Phase</a:t>
            </a:r>
          </a:p>
          <a:p>
            <a:pPr lvl="1">
              <a:lnSpc>
                <a:spcPct val="115000"/>
              </a:lnSpc>
              <a:spcAft>
                <a:spcPts val="14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◦  Even after fixing crashes, the model yielded exactly 0% difference from baseline ABC.</a:t>
            </a:r>
          </a:p>
          <a:p>
            <a:pPr lvl="1">
              <a:lnSpc>
                <a:spcPct val="115000"/>
              </a:lnSpc>
              <a:spcAft>
                <a:spcPts val="14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◦  Root causes: Label leakage (training on MFFC) and overriding cuts after convergence broke timing.</a:t>
            </a:r>
          </a:p>
          <a:p>
            <a:pPr lvl="1">
              <a:lnSpc>
                <a:spcPct val="115000"/>
              </a:lnSpc>
              <a:spcAft>
                <a:spcPts val="14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◦  Resolution: Switched to ADP-based labels and inline Area Blending architecture.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Results: QoR Comparison (Arithmetic Benchmarks)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698480" cy="317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15000"/>
              </a:lnSpc>
              <a:spcAft>
                <a:spcPts val="14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•  Comparison of baseline ABC (C=8) vs ML-Guided ABC on complex arithmetic circuits.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920240"/>
          <a:ext cx="10607040" cy="3822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80160"/>
                <a:gridCol w="1280160"/>
                <a:gridCol w="1280160"/>
                <a:gridCol w="1920240"/>
                <a:gridCol w="1920240"/>
                <a:gridCol w="1280160"/>
              </a:tblGrid>
              <a:tr h="347471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Benchmark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ABC LUTs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ML LUTs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LUT Imp %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ABC ADP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ML ADP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ADP Imp %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adder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12,954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12,954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1,456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1,456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43,680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43,680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div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22,030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19,942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+9.48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19,033,920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17,229,888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+9.48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hyp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44,508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41,969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+5.70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186,666,552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176,017,986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+5.70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log2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8,010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7,778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+2.90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616,770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598,906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+2.90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842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831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+1.31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47,152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46,536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+1.31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multiplier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5,929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5,683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+4.15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314,237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301,199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+4.15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1,464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1,421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+2.94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61,488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59,682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+2.94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sqrt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5,724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5,180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+9.50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5,912,892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5,350,940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+9.50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81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square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3,997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3,502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+12.38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199,850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175,100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+12.38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Results: QoR Comparison (Random Control Benchmarks)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698480" cy="317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15000"/>
              </a:lnSpc>
              <a:spcAft>
                <a:spcPts val="14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•  Comparison of baseline ABC (C=8) vs ML-Guided ABC on random control circuits.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920240"/>
          <a:ext cx="106070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80160"/>
                <a:gridCol w="1280160"/>
                <a:gridCol w="1280160"/>
                <a:gridCol w="1920240"/>
                <a:gridCol w="1920240"/>
                <a:gridCol w="1280160"/>
              </a:tblGrid>
              <a:tr h="347472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Benchmark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ABC LUTs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ML LUTs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LUT Imp %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ABC ADP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ML ADP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ADP Imp %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cavlc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2,513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2,513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ctrl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i2c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+0.82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1,460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1,448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+0.82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int2float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861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861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mem_ctrl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12,104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11,914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+1.57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302,600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297,850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+1.57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+0.46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6,789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6,758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+0.46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router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1,575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1,575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voter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2,826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2,785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+1.45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48,042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47,345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+1.45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Results: Summary &amp;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698480" cy="317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15000"/>
              </a:lnSpc>
              <a:spcAft>
                <a:spcPts val="1400"/>
              </a:spcAft>
              <a:defRPr sz="1900" b="0">
                <a:solidFill>
                  <a:srgbClr val="000000"/>
                </a:solidFill>
                <a:latin typeface="Arial"/>
              </a:defRPr>
            </a:pPr>
            <a:r>
              <a:t>•  The ML-guided mapper was evaluated across 19 AIGER benchmarks.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100" b="1">
                <a:solidFill>
                  <a:srgbClr val="000000"/>
                </a:solidFill>
                <a:latin typeface="Arial"/>
              </a:defRPr>
            </a:pPr>
            <a:r>
              <a:t>•  Average ADP Reduction (arithmetic mean): 2.63%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•  Zero instances of QoR degradation across all benchmarks.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•  Best-performing benchmarks:</a:t>
            </a:r>
          </a:p>
          <a:p>
            <a:pPr lvl="1">
              <a:lnSpc>
                <a:spcPct val="115000"/>
              </a:lnSpc>
              <a:spcAft>
                <a:spcPts val="140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◦  square (multiplier):  12.38% ADP improvement — largest gain observed</a:t>
            </a:r>
          </a:p>
          <a:p>
            <a:pPr lvl="1">
              <a:lnSpc>
                <a:spcPct val="115000"/>
              </a:lnSpc>
              <a:spcAft>
                <a:spcPts val="140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◦  sqrt:                        9.50% ADP improvement</a:t>
            </a:r>
          </a:p>
          <a:p>
            <a:pPr lvl="1">
              <a:lnSpc>
                <a:spcPct val="115000"/>
              </a:lnSpc>
              <a:spcAft>
                <a:spcPts val="140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◦  div (divider):            9.48% ADP improvement</a:t>
            </a:r>
          </a:p>
          <a:p>
            <a:pPr lvl="1">
              <a:lnSpc>
                <a:spcPct val="115000"/>
              </a:lnSpc>
              <a:spcAft>
                <a:spcPts val="140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◦  hyp (hyperbolic):       5.70% ADP improvement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900" b="0">
                <a:solidFill>
                  <a:srgbClr val="000000"/>
                </a:solidFill>
                <a:latin typeface="Arial"/>
              </a:defRPr>
            </a:pPr>
            <a:r>
              <a:t>•  The model shows strongest gains on complex arithmetic circuits where ABC's local heuristics are most likely to miss globally optimal cut selections.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Codebase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698480" cy="317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15000"/>
              </a:lnSpc>
              <a:spcAft>
                <a:spcPts val="140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•  abc/ — The modified ABC synthesis tool with our ML integration hooks.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•  benchmarks/ — AIGER benchmark circuits (arithmetic and random control suites).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•  ml_cut_project/ — Main ML pipeline directory containing:</a:t>
            </a:r>
          </a:p>
          <a:p>
            <a:pPr lvl="1">
              <a:lnSpc>
                <a:spcPct val="115000"/>
              </a:lnSpc>
              <a:spcAft>
                <a:spcPts val="14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◦  ml/ — Trained model weights (cut_model_mlp.pt) and feature scaler (scaler.pkl).</a:t>
            </a:r>
          </a:p>
          <a:p>
            <a:pPr lvl="1">
              <a:lnSpc>
                <a:spcPct val="115000"/>
              </a:lnSpc>
              <a:spcAft>
                <a:spcPts val="14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◦  abc_patch/ — Source patches: ifML.c (inference engine) and model_weights.h.</a:t>
            </a:r>
          </a:p>
          <a:p>
            <a:pPr lvl="1">
              <a:lnSpc>
                <a:spcPct val="115000"/>
              </a:lnSpc>
              <a:spcAft>
                <a:spcPts val="14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◦  data/ and results/ — Raw CSV dumps and QoR comparison logs.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•  Core ABC Modifications:</a:t>
            </a:r>
          </a:p>
          <a:p>
            <a:pPr lvl="1">
              <a:lnSpc>
                <a:spcPct val="115000"/>
              </a:lnSpc>
              <a:spcAft>
                <a:spcPts val="14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◦  ifML.c — Contains the If_MLBlendCutArea function that runs the MLP forward pass.</a:t>
            </a:r>
          </a:p>
          <a:p>
            <a:pPr lvl="1">
              <a:lnSpc>
                <a:spcPct val="115000"/>
              </a:lnSpc>
              <a:spcAft>
                <a:spcPts val="14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◦  ifMap.c — Modified to call the ML blending function during area-recovery rounds.</a:t>
            </a:r>
          </a:p>
          <a:p>
            <a:pPr lvl="1">
              <a:lnSpc>
                <a:spcPct val="115000"/>
              </a:lnSpc>
              <a:spcAft>
                <a:spcPts val="14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◦  if.h — Updated header with forward declarations for the ML integration.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698480" cy="317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15000"/>
              </a:lnSpc>
              <a:spcAft>
                <a:spcPts val="1400"/>
              </a:spcAft>
              <a:defRPr sz="1900" b="0">
                <a:solidFill>
                  <a:srgbClr val="000000"/>
                </a:solidFill>
                <a:latin typeface="Arial"/>
              </a:defRPr>
            </a:pPr>
            <a:r>
              <a:t>•  A lightweight MLP can outperform ABC's highly optimized, hand-tuned EDA heuristics when guided by the right features and labels.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900" b="0">
                <a:solidFill>
                  <a:srgbClr val="000000"/>
                </a:solidFill>
                <a:latin typeface="Arial"/>
              </a:defRPr>
            </a:pPr>
            <a:r>
              <a:t>•  Avoiding label leakage is critical — training on structural features forces the model to learn genuinely new signals rather than copying ABC.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900" b="0">
                <a:solidFill>
                  <a:srgbClr val="000000"/>
                </a:solidFill>
                <a:latin typeface="Arial"/>
              </a:defRPr>
            </a:pPr>
            <a:r>
              <a:t>•  Area Blending is superior to hard filtering because it preserves the optimizer's mathematical convergence guarantees.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900" b="0">
                <a:solidFill>
                  <a:srgbClr val="000000"/>
                </a:solidFill>
                <a:latin typeface="Arial"/>
              </a:defRPr>
            </a:pPr>
            <a:r>
              <a:t>•  Native C integration (model_weights.h + ifML.c) eliminates all I/O overhead, making ML inference practical inside tight mapping loops.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900" b="0">
                <a:solidFill>
                  <a:srgbClr val="000000"/>
                </a:solidFill>
                <a:latin typeface="Arial"/>
              </a:defRPr>
            </a:pPr>
            <a:r>
              <a:t>•  The results demonstrate that ML can act not just as an external filter, but as an embedded mathematical guide for traditional EDA algorithms.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698480" cy="317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15000"/>
              </a:lnSpc>
              <a:spcAft>
                <a:spcPts val="1400"/>
              </a:spcAft>
              <a:defRPr sz="1900" b="0">
                <a:solidFill>
                  <a:srgbClr val="000000"/>
                </a:solidFill>
                <a:latin typeface="Arial"/>
              </a:defRPr>
            </a:pPr>
            <a:r>
              <a:t>•  This project successfully implemented an ML-guided ASIC technology mapper by deeply integrating a structural-feature-based MLP directly into ABC's C codebase.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900" b="0">
                <a:solidFill>
                  <a:srgbClr val="000000"/>
                </a:solidFill>
                <a:latin typeface="Arial"/>
              </a:defRPr>
            </a:pPr>
            <a:r>
              <a:t>•  We overcame significant integration hurdles — trivial cut crashes, label leakage, and broken timing graphs — through systematic debugging.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900" b="0">
                <a:solidFill>
                  <a:srgbClr val="000000"/>
                </a:solidFill>
                <a:latin typeface="Arial"/>
              </a:defRPr>
            </a:pPr>
            <a:r>
              <a:t>•  The Area Blending architecture proved to be the correct design choice, allowing ML to gently steer ABC's decisions.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•  The final model achieved up to 12.38% ADP reduction on complex arithmetic circuits, with an average improvement of 2.63% and zero regressions.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900" b="0">
                <a:solidFill>
                  <a:srgbClr val="000000"/>
                </a:solidFill>
                <a:latin typeface="Arial"/>
              </a:defRPr>
            </a:pPr>
            <a:r>
              <a:t>•  These results highlight the practical potential of machine learning for improving EDA tool quality without sacrificing runtime or stability.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2400"/>
              </a:spcAft>
              <a:defRPr sz="4800" b="1">
                <a:solidFill>
                  <a:srgbClr val="000000"/>
                </a:solidFill>
                <a:latin typeface="Arial"/>
              </a:defRPr>
            </a:pPr>
            <a:r>
              <a:t>Thank You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  <a:defRPr sz="2800" b="0">
                <a:solidFill>
                  <a:srgbClr val="5A5A5A"/>
                </a:solidFill>
                <a:latin typeface="Arial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